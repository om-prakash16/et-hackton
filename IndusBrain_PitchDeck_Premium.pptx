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8800" b="1">
                <a:solidFill>
                  <a:srgbClr val="06B6D4"/>
                </a:solidFill>
              </a:defRPr>
            </a:pPr>
            <a:r>
              <a:t>IndusBrain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8FAFC"/>
                </a:solidFill>
              </a:defRPr>
            </a:pPr>
            <a:r>
              <a:t>The Multi-Tenant Industrial AI Operating System</a:t>
            </a:r>
          </a:p>
          <a:p>
            <a:pPr>
              <a:defRPr sz="2200" i="1">
                <a:solidFill>
                  <a:srgbClr val="10B981"/>
                </a:solidFill>
              </a:defRPr>
            </a:pPr>
            <a:r>
              <a:t>From Data Silos to Decision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EF4444"/>
                </a:solidFill>
                <a:latin typeface="Arial"/>
              </a:defRPr>
            </a:pPr>
            <a:r>
              <a:t>1. The Heavy Industry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The Reality of Industrial Data Silos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Engineers spend 35% of their time searching for information (McKinsey 2024).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P&amp;ID Drawings are in AutoCAD, Maintenance Logs in SAP, and OEM Manuals in 400-page PDFs.</a:t>
            </a:r>
          </a:p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The Consequence of Missing Context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Unplanned downtime costs heavy industry $50B+ annually.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When a pump vibrates, engineers lose hours piecing together scattered data before they can 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6B6D4"/>
                </a:solidFill>
                <a:latin typeface="Arial"/>
              </a:defRPr>
            </a:pPr>
            <a:r>
              <a:t>2. Introducing IndusBrain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A Unified Command Center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IndusBrain is an end-to-end AI platform that ingests unstructured industrial data and turns it into actionable intelligence.</a:t>
            </a:r>
          </a:p>
          <a:p>
            <a:pPr>
              <a:defRPr b="1" sz="2800">
                <a:solidFill>
                  <a:srgbClr val="06B6D4"/>
                </a:solidFill>
                <a:latin typeface="Arial"/>
              </a:defRPr>
            </a:pPr>
            <a:r>
              <a:t>Universal Document Intelligence Pipeline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Automatically runs OCR &amp; NLP on PDFs, DWGs, and Excel sheets.</a:t>
            </a:r>
          </a:p>
          <a:p>
            <a:pPr>
              <a:defRPr b="1" sz="2800">
                <a:solidFill>
                  <a:srgbClr val="06B6D4"/>
                </a:solidFill>
                <a:latin typeface="Arial"/>
              </a:defRPr>
            </a:pPr>
            <a:r>
              <a:t>Active Knowledge Graph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Extracts entities to build a topological digital twin (e.g., Pump A connects to Tank 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0B981"/>
                </a:solidFill>
                <a:latin typeface="Arial"/>
              </a:defRPr>
            </a:pPr>
            <a:r>
              <a:t>3. The Technical Differentiator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800">
                <a:solidFill>
                  <a:srgbClr val="EF4444"/>
                </a:solidFill>
                <a:latin typeface="Arial"/>
              </a:defRPr>
            </a:pPr>
            <a:r>
              <a:t>Standard RAG (The Old Way) fails in engineering.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Relies purely on vector similarity (keyword matching).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Cannot answer topological questions like 'What happens downstream if Valve V-200 fails?'</a:t>
            </a:r>
          </a:p>
          <a:p>
            <a:pPr>
              <a:defRPr b="1" sz="2800">
                <a:solidFill>
                  <a:srgbClr val="10B981"/>
                </a:solidFill>
                <a:latin typeface="Arial"/>
              </a:defRPr>
            </a:pPr>
            <a:r>
              <a:t>Agentic GraphRAG (Our Breakthrough)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Combines Vector Embeddings (Qdrant) with Graph Networks (Neo4j).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The AI acts autonomously, navigating the physical topology of the factory.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Zero Hallucination: 100% strict citations to exact source documents.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6B6D4"/>
                </a:solidFill>
                <a:latin typeface="Arial"/>
              </a:defRPr>
            </a:pPr>
            <a:r>
              <a:t>4. Enterprise Multi-Tenancy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Built for B2B SaaS Scale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Super Admins can instantly provision isolated 'Enterprise Brains' for different clients.</a:t>
            </a:r>
          </a:p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Strict Data Isolation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Client A's Knowledge Graph and Vectors never leak into Client B's AI context.</a:t>
            </a:r>
          </a:p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Granular Role-Based Access Control (RBAC)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JWT-secured architecture enforces permissions.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E.g., A 'Maintenance Engineer' can upload evidence, while a 'Viewer' is read-only.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0B981"/>
                </a:solidFill>
                <a:latin typeface="Arial"/>
              </a:defRPr>
            </a:pPr>
            <a:r>
              <a:t>5. Core Feature: Automated RCA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Turning 3 Days into 3 Seconds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When an anomaly occurs (e.g., 15% pressure drop), the AI takes over.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The AI orchestrator cross-references live telemetry with the OEM Manual and Maintenance Logs.</a:t>
            </a:r>
          </a:p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The Output: An Instant RCA Tree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1. Symptom Identified.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2. Probable Cause Extracted.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3. Root Cause Determined &amp; Work Order Recommended.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6B6D4"/>
                </a:solidFill>
                <a:latin typeface="Arial"/>
              </a:defRPr>
            </a:pPr>
            <a:r>
              <a:t>6. Tech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Frontend Presentation</a:t>
            </a:r>
          </a:p>
          <a:p>
            <a:pPr lvl="1">
              <a:defRPr b="0" sz="2000">
                <a:solidFill>
                  <a:srgbClr val="94A3B8"/>
                </a:solidFill>
                <a:latin typeface="Arial"/>
              </a:defRPr>
            </a:pPr>
            <a:r>
              <a:t>Next.js 14, React, Tailwind CSS, Framer Motion (Highly Responsive UI).</a:t>
            </a:r>
          </a:p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Backend API &amp; Data Processing</a:t>
            </a:r>
          </a:p>
          <a:p>
            <a:pPr lvl="1">
              <a:defRPr b="0" sz="2000">
                <a:solidFill>
                  <a:srgbClr val="94A3B8"/>
                </a:solidFill>
                <a:latin typeface="Arial"/>
              </a:defRPr>
            </a:pPr>
            <a:r>
              <a:t>FastAPI (Python) for asynchronous AI routing and document ingestion.</a:t>
            </a:r>
          </a:p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The AI Intelligence Layer</a:t>
            </a:r>
          </a:p>
          <a:p>
            <a:pPr lvl="1">
              <a:defRPr b="0" sz="2000">
                <a:solidFill>
                  <a:srgbClr val="94A3B8"/>
                </a:solidFill>
                <a:latin typeface="Arial"/>
              </a:defRPr>
            </a:pPr>
            <a:r>
              <a:t>Google Gemini 2.5 Flash as the core Agentic Reasoning Engine.</a:t>
            </a:r>
          </a:p>
          <a:p>
            <a:pPr>
              <a:defRPr b="1" sz="2600">
                <a:solidFill>
                  <a:srgbClr val="F8FAFC"/>
                </a:solidFill>
                <a:latin typeface="Arial"/>
              </a:defRPr>
            </a:pPr>
            <a:r>
              <a:t>Databases</a:t>
            </a:r>
          </a:p>
          <a:p>
            <a:pPr lvl="1">
              <a:defRPr b="0" sz="2000">
                <a:solidFill>
                  <a:srgbClr val="94A3B8"/>
                </a:solidFill>
                <a:latin typeface="Arial"/>
              </a:defRPr>
            </a:pPr>
            <a:r>
              <a:t>Neo4j for Graph Topology | Qdrant for Vector Embeddings.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6B6D4"/>
                </a:solidFill>
                <a:latin typeface="Arial"/>
              </a:defRPr>
            </a:pPr>
            <a:r>
              <a:t>7. Product Roadmap: Flutter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Empowering the 'Deskless' Worker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Engineers on the factory floor don't use laptops.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Phase 2 introduces a cross-platform (iOS/Android) mobile interface.</a:t>
            </a:r>
          </a:p>
          <a:p>
            <a:pPr>
              <a:defRPr b="1" sz="2800">
                <a:solidFill>
                  <a:srgbClr val="06B6D4"/>
                </a:solidFill>
                <a:latin typeface="Arial"/>
              </a:defRPr>
            </a:pPr>
            <a:r>
              <a:t>Scan QR Codes on Machinery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Scan a pump to instantly load its context into the Agentic AI Copilot.</a:t>
            </a:r>
          </a:p>
          <a:p>
            <a:pPr>
              <a:defRPr b="1" sz="2800">
                <a:solidFill>
                  <a:srgbClr val="10B981"/>
                </a:solidFill>
                <a:latin typeface="Arial"/>
              </a:defRPr>
            </a:pPr>
            <a:r>
              <a:t>Upload Photographic Evidence</a:t>
            </a:r>
          </a:p>
          <a:p>
            <a:pPr lvl="1">
              <a:defRPr b="0" sz="2200">
                <a:solidFill>
                  <a:srgbClr val="94A3B8"/>
                </a:solidFill>
                <a:latin typeface="Arial"/>
              </a:defRPr>
            </a:pPr>
            <a:r>
              <a:t>Snap a picture of a leaking valve to trigger an automated RCA workflow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0B981"/>
                </a:solidFill>
                <a:latin typeface="Arial"/>
              </a:defRPr>
            </a:pPr>
            <a:r>
              <a:t>8. 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800">
                <a:solidFill>
                  <a:srgbClr val="F8FAFC"/>
                </a:solidFill>
                <a:latin typeface="Arial"/>
              </a:defRPr>
            </a:pPr>
            <a:r>
              <a:t>Massive ROI for Heavy Industry</a:t>
            </a:r>
          </a:p>
          <a:p>
            <a:pPr>
              <a:defRPr b="1" sz="2400">
                <a:solidFill>
                  <a:srgbClr val="06B6D4"/>
                </a:solidFill>
                <a:latin typeface="Arial"/>
              </a:defRPr>
            </a:pPr>
            <a:r>
              <a:t>-90% Reduction in Troubleshooting Time</a:t>
            </a:r>
          </a:p>
          <a:p>
            <a:pPr lvl="1">
              <a:defRPr b="0" sz="2000">
                <a:solidFill>
                  <a:srgbClr val="94A3B8"/>
                </a:solidFill>
                <a:latin typeface="Arial"/>
              </a:defRPr>
            </a:pPr>
            <a:r>
              <a:t>Engineers stop searching and start fixing.</a:t>
            </a:r>
          </a:p>
          <a:p>
            <a:pPr>
              <a:defRPr b="1" sz="2400">
                <a:solidFill>
                  <a:srgbClr val="06B6D4"/>
                </a:solidFill>
                <a:latin typeface="Arial"/>
              </a:defRPr>
            </a:pPr>
            <a:r>
              <a:t>100% Automated Regulatory Compliance</a:t>
            </a:r>
          </a:p>
          <a:p>
            <a:pPr lvl="1">
              <a:defRPr b="0" sz="2000">
                <a:solidFill>
                  <a:srgbClr val="94A3B8"/>
                </a:solidFill>
                <a:latin typeface="Arial"/>
              </a:defRPr>
            </a:pPr>
            <a:r>
              <a:t>Graph AI actively audits operations against safety frameworks like OISD-105.</a:t>
            </a:r>
          </a:p>
          <a:p>
            <a:pPr>
              <a:defRPr b="1" sz="2400">
                <a:solidFill>
                  <a:srgbClr val="06B6D4"/>
                </a:solidFill>
                <a:latin typeface="Arial"/>
              </a:defRPr>
            </a:pPr>
            <a:r>
              <a:t>Prevention of Catastrophic Failure</a:t>
            </a:r>
          </a:p>
          <a:p>
            <a:pPr lvl="1">
              <a:defRPr b="0" sz="2000">
                <a:solidFill>
                  <a:srgbClr val="94A3B8"/>
                </a:solidFill>
                <a:latin typeface="Arial"/>
              </a:defRPr>
            </a:pPr>
            <a:r>
              <a:t>Proactively links anomalies to historical maintenance data before a machine breaks.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7200" b="1">
                <a:solidFill>
                  <a:srgbClr val="10B981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8FAFC"/>
                </a:solidFill>
              </a:defRPr>
            </a:pPr>
            <a:r>
              <a:t>IndusBrain: We didn't just build a chatbot.</a:t>
            </a:r>
          </a:p>
          <a:p>
            <a:pPr>
              <a:defRPr sz="2400">
                <a:solidFill>
                  <a:srgbClr val="06B6D4"/>
                </a:solidFill>
              </a:defRPr>
            </a:pPr>
            <a:r>
              <a:t>We built the Industrial OS of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