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8000" b="1">
                <a:solidFill>
                  <a:srgbClr val="22D3EE"/>
                </a:solidFill>
              </a:defRPr>
            </a:pPr>
            <a:r>
              <a:t>IndusBrain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t>The Multi-Tenant Industrial AI Operating System</a:t>
            </a:r>
          </a:p>
          <a:p>
            <a:pPr>
              <a:defRPr sz="2400">
                <a:solidFill>
                  <a:srgbClr val="34D399"/>
                </a:solidFill>
              </a:defRPr>
            </a:pPr>
            <a:r>
              <a:t>Eliminating Downtime with Agentic GraphRAG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2D3EE"/>
                </a:solidFill>
              </a:defRPr>
            </a:pPr>
            <a:r>
              <a:t>1. The Industrial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F87171"/>
                </a:solidFill>
              </a:defRPr>
            </a:pPr>
            <a:r>
              <a:t>Data Silos</a:t>
            </a:r>
          </a:p>
          <a:p>
            <a:pPr lvl="1">
              <a:defRPr>
                <a:solidFill>
                  <a:srgbClr val="CBD5E1"/>
                </a:solidFill>
              </a:defRPr>
            </a:pPr>
            <a:r>
              <a:t>P&amp;IDs are in AutoCAD, maintenance logs in SAP, and OEM manuals in 400-page PDF archives. They don't talk to each other.</a:t>
            </a:r>
          </a:p>
          <a:p>
            <a:pPr>
              <a:defRPr b="1">
                <a:solidFill>
                  <a:srgbClr val="F87171"/>
                </a:solidFill>
              </a:defRPr>
            </a:pPr>
            <a:r>
              <a:t>Information Retrieval</a:t>
            </a:r>
          </a:p>
          <a:p>
            <a:pPr lvl="1">
              <a:defRPr>
                <a:solidFill>
                  <a:srgbClr val="CBD5E1"/>
                </a:solidFill>
              </a:defRPr>
            </a:pPr>
            <a:r>
              <a:t>A 2024 McKinsey survey found that professionals in asset-intensive industries spend 35% of their time just searching for 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4D399"/>
                </a:solidFill>
              </a:defRPr>
            </a:pPr>
            <a:r>
              <a:t>2. The IndusBrain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Universal Document Ingestion</a:t>
            </a:r>
          </a:p>
          <a:p>
            <a:pPr lvl="1">
              <a:defRPr>
                <a:solidFill>
                  <a:srgbClr val="CBD5E1"/>
                </a:solidFill>
              </a:defRPr>
            </a:pPr>
            <a:r>
              <a:t>Automatically parses PDFs, DWGs, and Excel logs via OCR.</a:t>
            </a:r>
          </a:p>
          <a:p>
            <a:pPr>
              <a:defRPr b="1">
                <a:solidFill>
                  <a:srgbClr val="FFFFFF"/>
                </a:solidFill>
              </a:defRPr>
            </a:pPr>
            <a:r>
              <a:t>Active Knowledge Graph</a:t>
            </a:r>
          </a:p>
          <a:p>
            <a:pPr lvl="1">
              <a:defRPr>
                <a:solidFill>
                  <a:srgbClr val="CBD5E1"/>
                </a:solidFill>
              </a:defRPr>
            </a:pPr>
            <a:r>
              <a:t>Extracts entities and links them (e.g., understands Pump P-101 is physically connected to Valve V-200).</a:t>
            </a:r>
          </a:p>
          <a:p>
            <a:pPr>
              <a:defRPr b="1">
                <a:solidFill>
                  <a:srgbClr val="FFFFFF"/>
                </a:solidFill>
              </a:defRPr>
            </a:pPr>
            <a:r>
              <a:t>Role-Based AI Copilots</a:t>
            </a:r>
          </a:p>
          <a:p>
            <a:pPr lvl="1">
              <a:defRPr>
                <a:solidFill>
                  <a:srgbClr val="CBD5E1"/>
                </a:solidFill>
              </a:defRPr>
            </a:pPr>
            <a:r>
              <a:t>Context-aware AI assistants that answer questions instantly, with strict 100% citation to original documents.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2D3EE"/>
                </a:solidFill>
              </a:defRPr>
            </a:pPr>
            <a:r>
              <a:t>3. Architecture (B2B SaaS)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Next.js React Frontend (Tenant-Isolated UI)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FastAPI Backend (Data Ingestion &amp; Orchestration)</a:t>
            </a:r>
          </a:p>
          <a:p>
            <a:pPr>
              <a:defRPr b="1">
                <a:solidFill>
                  <a:srgbClr val="22D3EE"/>
                </a:solidFill>
              </a:defRPr>
            </a:pPr>
            <a:r>
              <a:t>Google Gemini Flash 2.5 (Agentic Reasoning Engine)</a:t>
            </a:r>
          </a:p>
          <a:p>
            <a:pPr>
              <a:defRPr>
                <a:solidFill>
                  <a:srgbClr val="34D399"/>
                </a:solidFill>
              </a:defRPr>
            </a:pPr>
            <a:r>
              <a:t>Qdrant Vector DB (Semantic Embeddings)</a:t>
            </a:r>
          </a:p>
          <a:p>
            <a:pPr>
              <a:defRPr>
                <a:solidFill>
                  <a:srgbClr val="34D399"/>
                </a:solidFill>
              </a:defRPr>
            </a:pPr>
            <a:r>
              <a:t>Neo4j Graph DB (Asset Topology Traversal)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BBF24"/>
                </a:solidFill>
              </a:defRPr>
            </a:pPr>
            <a:r>
              <a:t>4. Why We Win: GraphRAG vs Standard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F87171"/>
                </a:solidFill>
              </a:defRPr>
            </a:pPr>
            <a:r>
              <a:t>Standard RAG (The Old Way)</a:t>
            </a:r>
          </a:p>
          <a:p>
            <a:pPr lvl="1">
              <a:defRPr>
                <a:solidFill>
                  <a:srgbClr val="CBD5E1"/>
                </a:solidFill>
              </a:defRPr>
            </a:pPr>
            <a:r>
              <a:t>Uses basic keyword/vector matching. Cannot answer complex topological questions like 'If this pump fails, what downstream tank overflows?'</a:t>
            </a:r>
          </a:p>
          <a:p>
            <a:pPr>
              <a:defRPr b="1">
                <a:solidFill>
                  <a:srgbClr val="34D399"/>
                </a:solidFill>
              </a:defRPr>
            </a:pPr>
            <a:r>
              <a:t>Agentic GraphRAG (IndusBrain)</a:t>
            </a:r>
          </a:p>
          <a:p>
            <a:pPr lvl="1">
              <a:defRPr>
                <a:solidFill>
                  <a:srgbClr val="CBD5E1"/>
                </a:solidFill>
              </a:defRPr>
            </a:pPr>
            <a:r>
              <a:t>Combines Vector Similarity with Graph Network analysis. The AI acts as an autonomous agent that navigates the digital twin of the factory to find the exact root cause.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2D3EE"/>
                </a:solidFill>
              </a:defRPr>
            </a:pPr>
            <a:r>
              <a:t>5. Business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34D399"/>
                </a:solidFill>
              </a:defRPr>
            </a:pPr>
            <a:r>
              <a:t>90% Reduction in Time-to-Resolution</a:t>
            </a:r>
          </a:p>
          <a:p>
            <a:pPr lvl="1">
              <a:defRPr>
                <a:solidFill>
                  <a:srgbClr val="CBD5E1"/>
                </a:solidFill>
              </a:defRPr>
            </a:pPr>
            <a:r>
              <a:t>Root Cause Analysis is automated instantly.</a:t>
            </a:r>
          </a:p>
          <a:p>
            <a:pPr>
              <a:defRPr b="1">
                <a:solidFill>
                  <a:srgbClr val="34D399"/>
                </a:solidFill>
              </a:defRPr>
            </a:pPr>
            <a:r>
              <a:t>100% Automated Compliance</a:t>
            </a:r>
          </a:p>
          <a:p>
            <a:pPr lvl="1">
              <a:defRPr>
                <a:solidFill>
                  <a:srgbClr val="CBD5E1"/>
                </a:solidFill>
              </a:defRPr>
            </a:pPr>
            <a:r>
              <a:t>Tracking against OISD &amp; Factory Act automatically via the Knowledge Graph.</a:t>
            </a:r>
          </a:p>
          <a:p>
            <a:pPr>
              <a:defRPr b="1">
                <a:solidFill>
                  <a:srgbClr val="34D399"/>
                </a:solidFill>
              </a:defRPr>
            </a:pPr>
            <a:r>
              <a:t>0 Data Leaks</a:t>
            </a:r>
          </a:p>
          <a:p>
            <a:pPr lvl="1">
              <a:defRPr>
                <a:solidFill>
                  <a:srgbClr val="CBD5E1"/>
                </a:solidFill>
              </a:defRPr>
            </a:pPr>
            <a:r>
              <a:t>Enforced by strict Multi-Tenant RBAC Security.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